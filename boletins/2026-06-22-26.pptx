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5852160" cy="7315200"/>
  <p:notesSz cx="7315200" cy="585216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7315200"/>
          </a:xfrm>
          <a:prstGeom prst="rect">
            <a:avLst/>
          </a:prstGeom>
          <a:solidFill>
            <a:srgbClr val="AAFF57"/>
          </a:solidFill>
          <a:ln w="12700">
            <a:solidFill>
              <a:srgbClr val="AAFF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AAF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 BRAGA MARTINS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Economista · Consultora Financeira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55448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AAFF57"/>
          </a:solidFill>
          <a:ln w="12700">
            <a:solidFill>
              <a:srgbClr val="AAFF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BOLETIM #1 · SEMANAL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21031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26517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AFF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</a:t>
            </a:r>
            <a:pPr indent="0" marL="0">
              <a:buNone/>
            </a:pPr>
            <a:r>
              <a:rPr lang="en-US" sz="4400" b="1" dirty="0">
                <a:solidFill>
                  <a:srgbClr val="F0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da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11480" y="32004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11480" y="3931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– 26 de Junho de 2026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4937760"/>
            <a:ext cx="1554480" cy="960120"/>
          </a:xfrm>
          <a:prstGeom prst="roundRect">
            <a:avLst>
              <a:gd name="adj" fmla="val 5714"/>
            </a:avLst>
          </a:prstGeom>
          <a:solidFill>
            <a:srgbClr val="1A1F2E"/>
          </a:solidFill>
          <a:ln w="6350">
            <a:solidFill>
              <a:srgbClr val="2A314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50749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SELIC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5303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AFF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14,25%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103120" y="4937760"/>
            <a:ext cx="1554480" cy="960120"/>
          </a:xfrm>
          <a:prstGeom prst="roundRect">
            <a:avLst>
              <a:gd name="adj" fmla="val 5714"/>
            </a:avLst>
          </a:prstGeom>
          <a:solidFill>
            <a:srgbClr val="1A1F2E"/>
          </a:solidFill>
          <a:ln w="6350">
            <a:solidFill>
              <a:srgbClr val="2A314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240280" y="50749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IPCA 12M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240280" y="5303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AFF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4,72%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794760" y="4937760"/>
            <a:ext cx="1554480" cy="960120"/>
          </a:xfrm>
          <a:prstGeom prst="roundRect">
            <a:avLst>
              <a:gd name="adj" fmla="val 5714"/>
            </a:avLst>
          </a:prstGeom>
          <a:solidFill>
            <a:srgbClr val="1A1F2E"/>
          </a:solidFill>
          <a:ln w="6350">
            <a:solidFill>
              <a:srgbClr val="2A314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31920" y="50749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DÓLAR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931920" y="5303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AFF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R$ 5,87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11480" y="6309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DESLIZE → para a análise da semana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852160" cy="457200"/>
          </a:xfrm>
          <a:prstGeom prst="rect">
            <a:avLst/>
          </a:prstGeom>
          <a:solidFill>
            <a:srgbClr val="060A11"/>
          </a:solidFill>
          <a:ln w="12700">
            <a:solidFill>
              <a:srgbClr val="060A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AAF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 BRAGA MARTINS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74320" y="21945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Boletim Macro · Ed. #1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212080" y="1371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31520"/>
            <a:ext cx="54864" cy="274320"/>
          </a:xfrm>
          <a:prstGeom prst="rect">
            <a:avLst/>
          </a:prstGeom>
          <a:solidFill>
            <a:srgbClr val="AAFF57"/>
          </a:solidFill>
          <a:ln w="12700">
            <a:solidFill>
              <a:srgbClr val="AAFF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7132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DA SEMANA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143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palavra: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74320" y="14630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400" kern="0" dirty="0">
                <a:solidFill>
                  <a:srgbClr val="AAFF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HAWKISH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274320" y="22402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(BC sinaliza juros altos por mais tempo)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743200"/>
            <a:ext cx="5303520" cy="3657600"/>
          </a:xfrm>
          <a:prstGeom prst="roundRect">
            <a:avLst>
              <a:gd name="adj" fmla="val 1500"/>
            </a:avLst>
          </a:prstGeom>
          <a:solidFill>
            <a:srgbClr val="1A1F2E"/>
          </a:solidFill>
          <a:ln w="6350">
            <a:solidFill>
              <a:srgbClr val="2A314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92608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0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Central manteve a Selic em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AAF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14,25%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0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reforçou: não há cortes no curto prazo.
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AAF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0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motores:
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inflação ainda alta (Focus projeta IPCA 2026 em ~5%),
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risco fiscal pressionando juros longos,
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Fed nos EUA também segurando juros altos.
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AAF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investidor: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0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é um momento de oportunidade única para travar taxas reais acima de 7% antes que o BC comece o ciclo de cortes — porque ele vai começar, é só questão de quando.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6995160"/>
            <a:ext cx="5852160" cy="320040"/>
          </a:xfrm>
          <a:prstGeom prst="rect">
            <a:avLst/>
          </a:prstGeom>
          <a:solidFill>
            <a:srgbClr val="060A11"/>
          </a:solidFill>
          <a:ln w="12700">
            <a:solidFill>
              <a:srgbClr val="060A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70408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– 26 de Junho de 2026 · Julia Braga Martins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852160" cy="457200"/>
          </a:xfrm>
          <a:prstGeom prst="rect">
            <a:avLst/>
          </a:prstGeom>
          <a:solidFill>
            <a:srgbClr val="060A11"/>
          </a:solidFill>
          <a:ln w="12700">
            <a:solidFill>
              <a:srgbClr val="060A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AAF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 BRAGA MARTINS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74320" y="21945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Boletim Macro · Ed. #1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212080" y="1371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31520"/>
            <a:ext cx="54864" cy="274320"/>
          </a:xfrm>
          <a:prstGeom prst="rect">
            <a:avLst/>
          </a:prstGeom>
          <a:solidFill>
            <a:srgbClr val="AAFF57"/>
          </a:solidFill>
          <a:ln w="12700">
            <a:solidFill>
              <a:srgbClr val="AAFF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7132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PRINCIPAIS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097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6 números que importam essa semana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4320" y="1691640"/>
            <a:ext cx="2560320" cy="1554480"/>
          </a:xfrm>
          <a:prstGeom prst="roundRect">
            <a:avLst>
              <a:gd name="adj" fmla="val 3529"/>
            </a:avLst>
          </a:prstGeom>
          <a:solidFill>
            <a:srgbClr val="1A1F2E"/>
          </a:solidFill>
          <a:ln w="6350">
            <a:solidFill>
              <a:srgbClr val="2A314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8105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SELIC · juros básicos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AFF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14,25%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1148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F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Mantida no Copom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71800" y="1691640"/>
            <a:ext cx="2560320" cy="1554480"/>
          </a:xfrm>
          <a:prstGeom prst="roundRect">
            <a:avLst>
              <a:gd name="adj" fmla="val 3529"/>
            </a:avLst>
          </a:prstGeom>
          <a:solidFill>
            <a:srgbClr val="1A1F2E"/>
          </a:solidFill>
          <a:ln w="6350">
            <a:solidFill>
              <a:srgbClr val="2A314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08960" y="18105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IPCA · inflação 12m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108960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4,72%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10896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F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+0,12 pp na semana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383280"/>
            <a:ext cx="2560320" cy="1554480"/>
          </a:xfrm>
          <a:prstGeom prst="roundRect">
            <a:avLst>
              <a:gd name="adj" fmla="val 3529"/>
            </a:avLst>
          </a:prstGeom>
          <a:solidFill>
            <a:srgbClr val="1A1F2E"/>
          </a:solidFill>
          <a:ln w="6350">
            <a:solidFill>
              <a:srgbClr val="2A314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35021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DÓLAR · USD/BRL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794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R$ 5,87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1148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F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+1,4% na semana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71800" y="3383280"/>
            <a:ext cx="2560320" cy="1554480"/>
          </a:xfrm>
          <a:prstGeom prst="roundRect">
            <a:avLst>
              <a:gd name="adj" fmla="val 3529"/>
            </a:avLst>
          </a:prstGeom>
          <a:solidFill>
            <a:srgbClr val="1A1F2E"/>
          </a:solidFill>
          <a:ln w="6350">
            <a:solidFill>
              <a:srgbClr val="2A314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108960" y="35021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IBOVESPA · bolsa BR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108960" y="3794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128.450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10896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-2,1% na semana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5074920"/>
            <a:ext cx="2560320" cy="1554480"/>
          </a:xfrm>
          <a:prstGeom prst="roundRect">
            <a:avLst>
              <a:gd name="adj" fmla="val 3529"/>
            </a:avLst>
          </a:prstGeom>
          <a:solidFill>
            <a:srgbClr val="1A1F2E"/>
          </a:solidFill>
          <a:ln w="6350">
            <a:solidFill>
              <a:srgbClr val="2A314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11480" y="51937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NTN-B 2035 · juro real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5486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7,28%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11480" y="6080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F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Pressão fiscal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971800" y="5074920"/>
            <a:ext cx="2560320" cy="1554480"/>
          </a:xfrm>
          <a:prstGeom prst="roundRect">
            <a:avLst>
              <a:gd name="adj" fmla="val 3529"/>
            </a:avLst>
          </a:prstGeom>
          <a:solidFill>
            <a:srgbClr val="1A1F2E"/>
          </a:solidFill>
          <a:ln w="6350">
            <a:solidFill>
              <a:srgbClr val="2A314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108960" y="51937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 BRASIL · risco país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108960" y="5486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 bps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3108960" y="6080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F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Subindo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6995160"/>
            <a:ext cx="5852160" cy="320040"/>
          </a:xfrm>
          <a:prstGeom prst="rect">
            <a:avLst/>
          </a:prstGeom>
          <a:solidFill>
            <a:srgbClr val="060A11"/>
          </a:solidFill>
          <a:ln w="12700">
            <a:solidFill>
              <a:srgbClr val="060A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70408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– 26 de Junho de 2026 · Julia Braga Martins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852160" cy="457200"/>
          </a:xfrm>
          <a:prstGeom prst="rect">
            <a:avLst/>
          </a:prstGeom>
          <a:solidFill>
            <a:srgbClr val="060A11"/>
          </a:solidFill>
          <a:ln w="12700">
            <a:solidFill>
              <a:srgbClr val="060A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AAF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 BRAGA MARTINS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74320" y="21945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Boletim Macro · Ed. #1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212080" y="1371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31520"/>
            <a:ext cx="54864" cy="274320"/>
          </a:xfrm>
          <a:prstGeom prst="rect">
            <a:avLst/>
          </a:prstGeom>
          <a:solidFill>
            <a:srgbClr val="AAFF57"/>
          </a:solidFill>
          <a:ln w="12700">
            <a:solidFill>
              <a:srgbClr val="AAFF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7132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EXPECTATIVAS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097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os economistas mudaram?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" y="14173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 semanal das projeções do Boletim Focus (BC)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920240"/>
          <a:ext cx="53035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188720"/>
                <a:gridCol w="1188720"/>
                <a:gridCol w="822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ANTERIOR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AAFF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AAFF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0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IPCA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AAFF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0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IPCA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AAFF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0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Selic fim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AAFF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0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Selic fim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12,75%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AAFF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0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PIB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6B9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0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Dólar fim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AAFF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274320" y="5349240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242B3D"/>
          </a:solidFill>
          <a:ln w="6350">
            <a:solidFill>
              <a:srgbClr val="2A314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7200" y="5486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F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Leitura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57607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todos os indicadores subiram. Inflação esperada maior + juros maiores por mais tempo. Bolsa cedendo, dólar mais forte. </a:t>
            </a:r>
            <a:pPr indent="0" marL="0">
              <a:buNone/>
            </a:pPr>
            <a:r>
              <a:rPr lang="en-US" sz="1150" b="1" dirty="0">
                <a:solidFill>
                  <a:srgbClr val="AAF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mais nervoso, mas oportunidade clara na renda fixa.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0" y="6995160"/>
            <a:ext cx="5852160" cy="320040"/>
          </a:xfrm>
          <a:prstGeom prst="rect">
            <a:avLst/>
          </a:prstGeom>
          <a:solidFill>
            <a:srgbClr val="060A11"/>
          </a:solidFill>
          <a:ln w="12700">
            <a:solidFill>
              <a:srgbClr val="060A1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70408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– 26 de Junho de 2026 · Julia Braga Martins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852160" cy="457200"/>
          </a:xfrm>
          <a:prstGeom prst="rect">
            <a:avLst/>
          </a:prstGeom>
          <a:solidFill>
            <a:srgbClr val="060A11"/>
          </a:solidFill>
          <a:ln w="12700">
            <a:solidFill>
              <a:srgbClr val="060A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AAF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 BRAGA MARTINS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74320" y="21945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Boletim Macro · Ed. #1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212080" y="1371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31520"/>
            <a:ext cx="54864" cy="274320"/>
          </a:xfrm>
          <a:prstGeom prst="rect">
            <a:avLst/>
          </a:prstGeom>
          <a:solidFill>
            <a:srgbClr val="AAFF57"/>
          </a:solidFill>
          <a:ln w="12700">
            <a:solidFill>
              <a:srgbClr val="AAFF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7132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NOTÍCIAS · POLÍTICA BRASIL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097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🏛️ O que aconteceu por aqui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" y="1691640"/>
            <a:ext cx="5303520" cy="1554480"/>
          </a:xfrm>
          <a:prstGeom prst="roundRect">
            <a:avLst>
              <a:gd name="adj" fmla="val 3529"/>
            </a:avLst>
          </a:prstGeom>
          <a:solidFill>
            <a:srgbClr val="1A1F2E"/>
          </a:solidFill>
          <a:ln w="6350">
            <a:solidFill>
              <a:srgbClr val="2A314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 fiscal travado no Congresso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1945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de corte de gastos enfrentam resistência. Mercado teme que meta de zerar déficit em 2026 fique inviável.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AF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pPr indent="0" marL="0">
              <a:buNone/>
            </a:pPr>
            <a:r>
              <a:rPr lang="en-US" sz="1000" dirty="0">
                <a:solidFill>
                  <a:srgbClr val="F0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Juros longos sobem · risco país aumenta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3383280"/>
            <a:ext cx="5303520" cy="1554480"/>
          </a:xfrm>
          <a:prstGeom prst="roundRect">
            <a:avLst>
              <a:gd name="adj" fmla="val 3529"/>
            </a:avLst>
          </a:prstGeom>
          <a:solidFill>
            <a:srgbClr val="1A1F2E"/>
          </a:solidFill>
          <a:ln w="6350">
            <a:solidFill>
              <a:srgbClr val="2A314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520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 do Copom confirma tom duro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886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Comitê de Política Monetária deixou claro que Selic fica alta por mais tempo. Cortes só em 2027.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526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AF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pPr indent="0" marL="0">
              <a:buNone/>
            </a:pPr>
            <a:r>
              <a:rPr lang="en-US" sz="1000" dirty="0">
                <a:solidFill>
                  <a:srgbClr val="F0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Ótimo para renda fixa pós-fixada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5074920"/>
            <a:ext cx="5303520" cy="1554480"/>
          </a:xfrm>
          <a:prstGeom prst="roundRect">
            <a:avLst>
              <a:gd name="adj" fmla="val 3529"/>
            </a:avLst>
          </a:prstGeom>
          <a:solidFill>
            <a:srgbClr val="1A1F2E"/>
          </a:solidFill>
          <a:ln w="6350">
            <a:solidFill>
              <a:srgbClr val="2A314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5212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 dos precatórios em discussão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5577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proposta para parcelar pagamentos de dívidas judiciais do governo gera incerteza fiscal.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217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AF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pPr indent="0" marL="0">
              <a:buNone/>
            </a:pPr>
            <a:r>
              <a:rPr lang="en-US" sz="1000" dirty="0">
                <a:solidFill>
                  <a:srgbClr val="F0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Pressão sobre câmbio e percepção de risco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6995160"/>
            <a:ext cx="5852160" cy="320040"/>
          </a:xfrm>
          <a:prstGeom prst="rect">
            <a:avLst/>
          </a:prstGeom>
          <a:solidFill>
            <a:srgbClr val="060A11"/>
          </a:solidFill>
          <a:ln w="12700">
            <a:solidFill>
              <a:srgbClr val="060A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70408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– 26 de Junho de 2026 · Julia Braga Martins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852160" cy="457200"/>
          </a:xfrm>
          <a:prstGeom prst="rect">
            <a:avLst/>
          </a:prstGeom>
          <a:solidFill>
            <a:srgbClr val="060A11"/>
          </a:solidFill>
          <a:ln w="12700">
            <a:solidFill>
              <a:srgbClr val="060A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AAF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 BRAGA MARTINS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74320" y="21945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Boletim Macro · Ed. #1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212080" y="1371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31520"/>
            <a:ext cx="54864" cy="274320"/>
          </a:xfrm>
          <a:prstGeom prst="rect">
            <a:avLst/>
          </a:prstGeom>
          <a:solidFill>
            <a:srgbClr val="AAFF57"/>
          </a:solidFill>
          <a:ln w="12700">
            <a:solidFill>
              <a:srgbClr val="AAFF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7132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NOTÍCIAS · ECONOMIA GLOBAL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097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🌎 O que mexeu o mundo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" y="1691640"/>
            <a:ext cx="5303520" cy="1554480"/>
          </a:xfrm>
          <a:prstGeom prst="roundRect">
            <a:avLst>
              <a:gd name="adj" fmla="val 3529"/>
            </a:avLst>
          </a:prstGeom>
          <a:solidFill>
            <a:srgbClr val="1A1F2E"/>
          </a:solidFill>
          <a:ln w="6350">
            <a:solidFill>
              <a:srgbClr val="2A314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Powell mantém juros altos nos EUA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1945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Presidente do Federal Reserve (Banco Central americano) sinalizou: sem pressa para cortar. CPI ainda alto.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AF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pPr indent="0" marL="0">
              <a:buNone/>
            </a:pPr>
            <a:r>
              <a:rPr lang="en-US" sz="1000" dirty="0">
                <a:solidFill>
                  <a:srgbClr val="F0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Dólar forte globalmente · drena capital de emergentes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3383280"/>
            <a:ext cx="5303520" cy="1554480"/>
          </a:xfrm>
          <a:prstGeom prst="roundRect">
            <a:avLst>
              <a:gd name="adj" fmla="val 3529"/>
            </a:avLst>
          </a:prstGeom>
          <a:solidFill>
            <a:srgbClr val="1A1F2E"/>
          </a:solidFill>
          <a:ln w="6350">
            <a:solidFill>
              <a:srgbClr val="2A314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520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dos EUA vem acima do esperado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886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Inflação americana de maio em 3,4% (esperado 3,2%). Inflação resistente significa juros altos por mais tempo.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526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AF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pPr indent="0" marL="0">
              <a:buNone/>
            </a:pPr>
            <a:r>
              <a:rPr lang="en-US" sz="1000" dirty="0">
                <a:solidFill>
                  <a:srgbClr val="F0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Pressão sobre Selic e câmbio no Brasil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5074920"/>
            <a:ext cx="5303520" cy="1554480"/>
          </a:xfrm>
          <a:prstGeom prst="roundRect">
            <a:avLst>
              <a:gd name="adj" fmla="val 3529"/>
            </a:avLst>
          </a:prstGeom>
          <a:solidFill>
            <a:srgbClr val="1A1F2E"/>
          </a:solidFill>
          <a:ln w="6350">
            <a:solidFill>
              <a:srgbClr val="2A314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5212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desacelera mais que esperado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5577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produção industrial chinesa em queda. Demanda menor por commodities globais.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217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AF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pPr indent="0" marL="0">
              <a:buNone/>
            </a:pPr>
            <a:r>
              <a:rPr lang="en-US" sz="1000" dirty="0">
                <a:solidFill>
                  <a:srgbClr val="F0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 para Vale, Petrobras e exportadoras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6995160"/>
            <a:ext cx="5852160" cy="320040"/>
          </a:xfrm>
          <a:prstGeom prst="rect">
            <a:avLst/>
          </a:prstGeom>
          <a:solidFill>
            <a:srgbClr val="060A11"/>
          </a:solidFill>
          <a:ln w="12700">
            <a:solidFill>
              <a:srgbClr val="060A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70408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– 26 de Junho de 2026 · Julia Braga Martins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852160" cy="457200"/>
          </a:xfrm>
          <a:prstGeom prst="rect">
            <a:avLst/>
          </a:prstGeom>
          <a:solidFill>
            <a:srgbClr val="060A11"/>
          </a:solidFill>
          <a:ln w="12700">
            <a:solidFill>
              <a:srgbClr val="060A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AAF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 BRAGA MARTINS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74320" y="21945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Boletim Macro · Ed. #1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212080" y="1371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31520"/>
            <a:ext cx="54864" cy="274320"/>
          </a:xfrm>
          <a:prstGeom prst="rect">
            <a:avLst/>
          </a:prstGeom>
          <a:solidFill>
            <a:srgbClr val="AAFF57"/>
          </a:solidFill>
          <a:ln w="12700">
            <a:solidFill>
              <a:srgbClr val="AAFF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7132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NA CARTEIRA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097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ajustar a alocação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" y="1691640"/>
            <a:ext cx="5303520" cy="1554480"/>
          </a:xfrm>
          <a:prstGeom prst="roundRect">
            <a:avLst>
              <a:gd name="adj" fmla="val 3529"/>
            </a:avLst>
          </a:prstGeom>
          <a:solidFill>
            <a:srgbClr val="1A1F2E"/>
          </a:solidFill>
          <a:ln w="6350">
            <a:solidFill>
              <a:srgbClr val="2A314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51560" y="1920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AAF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BENEFICIA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CDB pós-fixado, LCI/LCA, Tesouro Selic, CRI tokenizado (Zuvia), IVVB11 (ETF do S&amp;P 500 — sobe com o dólar).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383280"/>
            <a:ext cx="5303520" cy="1554480"/>
          </a:xfrm>
          <a:prstGeom prst="roundRect">
            <a:avLst>
              <a:gd name="adj" fmla="val 3529"/>
            </a:avLst>
          </a:prstGeom>
          <a:solidFill>
            <a:srgbClr val="1A1F2E"/>
          </a:solidFill>
          <a:ln w="6350">
            <a:solidFill>
              <a:srgbClr val="2A314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520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051560" y="3611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Tesouro IPCA+ curto, FIIs de papel (fundos imobiliários de crédito), ETFs internacionais, multimercados defensivos.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5074920"/>
            <a:ext cx="5303520" cy="1554480"/>
          </a:xfrm>
          <a:prstGeom prst="roundRect">
            <a:avLst>
              <a:gd name="adj" fmla="val 3529"/>
            </a:avLst>
          </a:prstGeom>
          <a:solidFill>
            <a:srgbClr val="1A1F2E"/>
          </a:solidFill>
          <a:ln w="6350">
            <a:solidFill>
              <a:srgbClr val="2A314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5212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📉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051560" y="53035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SOFRE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58521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Tesouro Prefixado longo (preço cai quando juros sobem), FIIs de tijolo (imóveis físicos), Ibovespa cíclicas, varejo.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995160"/>
            <a:ext cx="5852160" cy="320040"/>
          </a:xfrm>
          <a:prstGeom prst="rect">
            <a:avLst/>
          </a:prstGeom>
          <a:solidFill>
            <a:srgbClr val="060A11"/>
          </a:solidFill>
          <a:ln w="12700">
            <a:solidFill>
              <a:srgbClr val="060A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70408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– 26 de Junho de 2026 · Julia Braga Martins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7315200"/>
          </a:xfrm>
          <a:prstGeom prst="rect">
            <a:avLst/>
          </a:prstGeom>
          <a:solidFill>
            <a:srgbClr val="AAFF57"/>
          </a:solidFill>
          <a:ln w="12700">
            <a:solidFill>
              <a:srgbClr val="AAFF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AAF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 DA SEMANA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0515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AAFF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411480" y="219456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F0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Travar </a:t>
            </a:r>
            <a:pPr indent="0" marL="0">
              <a:buNone/>
            </a:pPr>
            <a:r>
              <a:rPr lang="en-US" sz="2200" b="1" i="1" dirty="0">
                <a:solidFill>
                  <a:srgbClr val="AAFF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taxa real alta agora</a:t>
            </a:r>
            <a:pPr indent="0" marL="0">
              <a:buNone/>
            </a:pPr>
            <a:r>
              <a:rPr lang="en-US" sz="2200" i="1" dirty="0">
                <a:solidFill>
                  <a:srgbClr val="F0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antes do ciclo de cortes começar — porque ele </a:t>
            </a:r>
            <a:pPr indent="0" marL="0">
              <a:buNone/>
            </a:pPr>
            <a:r>
              <a:rPr lang="en-US" sz="2200" b="1" i="1" dirty="0">
                <a:solidFill>
                  <a:srgbClr val="AAFF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vai</a:t>
            </a:r>
            <a:pPr indent="0" marL="0">
              <a:buNone/>
            </a:pPr>
            <a:r>
              <a:rPr lang="en-US" sz="2200" i="1" dirty="0">
                <a:solidFill>
                  <a:srgbClr val="F0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começar.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F0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só questão de quando.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4572000"/>
            <a:ext cx="5029200" cy="1005840"/>
          </a:xfrm>
          <a:prstGeom prst="roundRect">
            <a:avLst>
              <a:gd name="adj" fmla="val 5455"/>
            </a:avLst>
          </a:prstGeom>
          <a:solidFill>
            <a:srgbClr val="242B3D"/>
          </a:solidFill>
          <a:ln w="6350">
            <a:solidFill>
              <a:srgbClr val="2A314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46634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comparar: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tokenizado (Zuvia)</a:t>
            </a:r>
            <a:pPr indent="0" marL="0">
              <a:buNone/>
            </a:pPr>
            <a:r>
              <a:rPr lang="en-US" sz="1200" dirty="0">
                <a:solidFill>
                  <a:srgbClr val="F0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IPCA+7% líquido</a:t>
            </a:r>
            <a:pPr indent="0" marL="0">
              <a:buNone/>
            </a:pPr>
            <a:r>
              <a:rPr lang="en-US" sz="1400" b="1" dirty="0">
                <a:solidFill>
                  <a:srgbClr val="AAF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indent="0" marL="0">
              <a:buNone/>
            </a:pPr>
            <a:r>
              <a:rPr lang="en-US" sz="1200" b="1" dirty="0">
                <a:solidFill>
                  <a:srgbClr val="AAF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CDB a IPCA+9% bruto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5852160"/>
            <a:ext cx="5029200" cy="1005840"/>
          </a:xfrm>
          <a:prstGeom prst="roundRect">
            <a:avLst>
              <a:gd name="adj" fmla="val 5455"/>
            </a:avLst>
          </a:prstGeom>
          <a:solidFill>
            <a:srgbClr val="1A1F2E"/>
          </a:solidFill>
          <a:ln w="6350">
            <a:solidFill>
              <a:srgbClr val="2A314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5943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 receber o boletim toda semana?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217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F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Me chama no WhatsApp · 💼 Siga no LinkedIn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6492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julia-finance-carteira.netlify.app/boletins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7040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 Braga Martins · Economista · 22-26 Jun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Boletim Semanal #1 · 22-26 Jun 2026</dc:title>
  <dc:subject>PptxGenJS Presentation</dc:subject>
  <dc:creator>Julia Braga Martins</dc:creator>
  <cp:lastModifiedBy>Julia Braga Martins</cp:lastModifiedBy>
  <cp:revision>1</cp:revision>
  <dcterms:created xsi:type="dcterms:W3CDTF">2026-06-23T18:40:03Z</dcterms:created>
  <dcterms:modified xsi:type="dcterms:W3CDTF">2026-06-23T18:40:03Z</dcterms:modified>
</cp:coreProperties>
</file>